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15847A"/>
            </a:solidFill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XGBoost</c:v>
                </c:pt>
                <c:pt idx="1">
                  <c:v>LightGBM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0.8617</c:v>
                </c:pt>
                <c:pt idx="1">
                  <c:v>0.8641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9"/>
          <c:min val="0.8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  <c:majorUnit val="0.02"/>
      </c:valAx>
    </c:plotArea>
    <c:plotVisOnly val="1"/>
    <c:dispBlanksAs val="gap"/>
    <c:showDLblsOverMax val="0"/>
    <c:extLst>
      <c:ext uri="{0b15fc19-7d7d-44ad-8c2d-2c3a37ce22c3}">
        <chartProps xmlns="https://web.wps.cn/et/2018/main" chartId="{66763bf7-2181-48e5-8dff-7c02f351c197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778240" y="320040"/>
            <a:ext cx="2743200" cy="2743200"/>
          </a:xfrm>
          <a:prstGeom prst="arc">
            <a:avLst/>
          </a:prstGeom>
          <a:noFill/>
          <a:ln w="50800">
            <a:solidFill>
              <a:srgbClr val="1584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914400"/>
            <a:ext cx="1417320" cy="1417320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22D48"/>
                </a:solidFill>
              </a:defRPr>
            </a:pPr>
            <a:r>
              <a:t>Renewable Energy Output Prediction</a:t>
            </a:r>
          </a:p>
          <a:p>
            <a:pPr>
              <a:defRPr sz="2800" b="1">
                <a:solidFill>
                  <a:srgbClr val="15847A"/>
                </a:solidFill>
              </a:defRPr>
            </a:pPr>
            <a:r>
              <a:t>Using XGBoost and LightGBM</a:t>
            </a:r>
          </a:p>
          <a:p>
            <a:pPr>
              <a:spcBef>
                <a:spcPts val="1600"/>
              </a:spcBef>
              <a:defRPr sz="1700">
                <a:solidFill>
                  <a:srgbClr val="66707A"/>
                </a:solidFill>
              </a:defRPr>
            </a:pPr>
            <a:r>
              <a:t>Machine Learning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71800"/>
            <a:ext cx="7132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22D48"/>
                </a:solidFill>
              </a:defRPr>
            </a:pPr>
            <a:r>
              <a:t>PROJECT TEAM</a:t>
            </a:r>
          </a:p>
          <a:p>
            <a:pPr>
              <a:spcAft>
                <a:spcPts val="200"/>
              </a:spcAft>
              <a:defRPr sz="1350">
                <a:solidFill>
                  <a:srgbClr val="222B34"/>
                </a:solidFill>
              </a:defRPr>
            </a:pPr>
            <a:r>
              <a:t>JASWANTH REDDY — 2520030284</a:t>
            </a:r>
          </a:p>
          <a:p>
            <a:pPr>
              <a:spcAft>
                <a:spcPts val="200"/>
              </a:spcAft>
              <a:defRPr sz="1350">
                <a:solidFill>
                  <a:srgbClr val="222B34"/>
                </a:solidFill>
              </a:defRPr>
            </a:pPr>
            <a:r>
              <a:t>MEGHANADH SAI REDDY — 2520030274</a:t>
            </a:r>
          </a:p>
          <a:p>
            <a:pPr>
              <a:spcAft>
                <a:spcPts val="200"/>
              </a:spcAft>
              <a:defRPr sz="1350">
                <a:solidFill>
                  <a:srgbClr val="222B34"/>
                </a:solidFill>
              </a:defRPr>
            </a:pPr>
            <a:r>
              <a:t>KUNAL — 2520030275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Abstract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7373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E1E6"/>
                </a:solidFill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B34"/>
                </a:solidFill>
              </a:defRPr>
            </a:pPr>
            <a:r>
              <a:t>Renewable energy generation varies with weather and environmental conditions.</a:t>
            </a:r>
          </a:p>
          <a:p>
            <a:pPr>
              <a:spcAft>
                <a:spcPts val="1000"/>
              </a:spcAft>
              <a:defRPr sz="2000">
                <a:solidFill>
                  <a:srgbClr val="222B34"/>
                </a:solidFill>
              </a:defRPr>
            </a:pPr>
            <a:r>
              <a:t>The project predicts solar power output from historical generation and weather-sensor data.</a:t>
            </a:r>
          </a:p>
          <a:p>
            <a:pPr>
              <a:spcAft>
                <a:spcPts val="1000"/>
              </a:spcAft>
              <a:defRPr sz="2000">
                <a:solidFill>
                  <a:srgbClr val="222B34"/>
                </a:solidFill>
              </a:defRPr>
            </a:pPr>
            <a:r>
              <a:t>Two gradient-boosting models are trained: XGBoost and LightGBM.</a:t>
            </a:r>
          </a:p>
          <a:p>
            <a:pPr>
              <a:spcAft>
                <a:spcPts val="1000"/>
              </a:spcAft>
              <a:defRPr sz="2000">
                <a:solidFill>
                  <a:srgbClr val="222B34"/>
                </a:solidFill>
              </a:defRPr>
            </a:pPr>
            <a:r>
              <a:t>Performance is evaluated using MAE, RMSE and R².</a:t>
            </a:r>
          </a:p>
          <a:p>
            <a:pPr>
              <a:spcAft>
                <a:spcPts val="1000"/>
              </a:spcAft>
              <a:defRPr sz="2000">
                <a:solidFill>
                  <a:srgbClr val="222B34"/>
                </a:solidFill>
              </a:defRPr>
            </a:pPr>
            <a:r>
              <a:t>The completed experiment produced reproducible predictions, trained models and result visualizations.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5257800"/>
            <a:ext cx="1325880" cy="8686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5385816"/>
            <a:ext cx="11064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5672" y="5696712"/>
            <a:ext cx="117957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5847A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5560" y="5257800"/>
            <a:ext cx="1325880" cy="8686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5288" y="5385816"/>
            <a:ext cx="110642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68712" y="5696712"/>
            <a:ext cx="1179576" cy="338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A853"/>
                </a:solidFill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182880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493775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Solar power output changes over time because of irradiation, temperature and time-of-day effects. Accurate prediction can support planning and efficient renewable-energy utilization.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Project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937759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Build a machine-learning pipeline that learns the relationship between weather/time features and AC power output.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205740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502152"/>
            <a:ext cx="30815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Objective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959352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Prepare and clean historical solar generation and weather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375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337560"/>
            <a:ext cx="73152" cy="2057400"/>
          </a:xfrm>
          <a:prstGeom prst="rect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502152"/>
            <a:ext cx="30815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Objective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959352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Engineer useful time-based and cyclic features for prediction.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33756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3337560"/>
            <a:ext cx="73152" cy="2057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502152"/>
            <a:ext cx="308152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Objective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3959352"/>
            <a:ext cx="3063240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Train, evaluate and compare XGBoost and LightGBM.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Dataset &amp; Input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7373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E1E6"/>
                </a:solidFill>
              </a:defRPr>
            </a:pPr>
            <a:r>
              <a:t>Solar Power Generation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201168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19072"/>
            <a:ext cx="493775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Kaggle Solar Power Generation Data. It contains generation and weather-sensor records from two solar power plants in India at 15-minute intervals over roughly 34 days.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035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73152" cy="20116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Prediction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719072"/>
            <a:ext cx="493775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AC_POWER — the alternating-current power output used as the target variable.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AMBIENT_TEMPERATURE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657600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MODULE_TEMPERATURE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IRRADIATION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15968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HOUR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4315968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MINUTE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315968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74336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MONTH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4974336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DAY_OF_WEEK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974336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HOUR_SIN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32704"/>
            <a:ext cx="3337560" cy="475488"/>
          </a:xfrm>
          <a:prstGeom prst="roundRect">
            <a:avLst/>
          </a:prstGeom>
          <a:solidFill>
            <a:srgbClr val="F1F8F6"/>
          </a:solidFill>
          <a:ln>
            <a:solidFill>
              <a:srgbClr val="CD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22D48"/>
                </a:solidFill>
              </a:defRPr>
            </a:pPr>
            <a:r>
              <a:t>HOUR_COS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7373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DE1E6"/>
                </a:solidFill>
              </a:defRPr>
            </a:pPr>
            <a:r>
              <a:t>End-to-End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1353312" cy="1078992"/>
          </a:xfrm>
          <a:prstGeom prst="round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Raw CSV Data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56816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21992" y="1143000"/>
            <a:ext cx="1353312" cy="1078992"/>
          </a:xfrm>
          <a:prstGeom prst="round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Data Cleaning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84448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9624" y="1143000"/>
            <a:ext cx="1353312" cy="1078992"/>
          </a:xfrm>
          <a:prstGeom prst="roundRect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Feature Engineering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12080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77256" y="1143000"/>
            <a:ext cx="1353312" cy="1078992"/>
          </a:xfrm>
          <a:prstGeom prst="round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80/20 Chronological Split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39712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04888" y="1143000"/>
            <a:ext cx="1353312" cy="107899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XGBoost + LightGBM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67344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32520" y="1143000"/>
            <a:ext cx="1353312" cy="107899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MAE / RMSE / R²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94976" y="1508760"/>
            <a:ext cx="256032" cy="320040"/>
          </a:xfrm>
          <a:prstGeom prst="rightArrow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60152" y="1143000"/>
            <a:ext cx="1353312" cy="1078992"/>
          </a:xfrm>
          <a:prstGeom prst="round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Graphs + Models + CSV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8803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880360"/>
            <a:ext cx="73152" cy="201168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044952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502152"/>
            <a:ext cx="2788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Merge plant generation with weather data using DATE_TIME and PLANT_ID, remove invalid records, convert numeric fields and handle missing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28803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2880360"/>
            <a:ext cx="73152" cy="2011680"/>
          </a:xfrm>
          <a:prstGeom prst="rect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044952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Feature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3502152"/>
            <a:ext cx="2788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Extract hour/day/month/day-of-week and cyclic hour features (sin/cos) to capture daily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288036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2880360"/>
            <a:ext cx="73152" cy="20116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9328" y="3044952"/>
            <a:ext cx="280720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Modeling &amp;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3502152"/>
            <a:ext cx="278892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Train both regressors on the chronological training portion and evaluate predictions on the held-out portion.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Data Preprocessing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Load Plant 1 and Plant 2 generation and weather CSV files.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Merge records using DATE_TIME and PLANT_ID.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Convert DATE_TIME to a datetime type and remove invalid/duplicate rows.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Convert model variables to numeric and remove rows with missing required values.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Sort the data chronologically before the train/test split.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Create time features and cyclic hour features (HOUR_SIN, HOUR_COS).</a:t>
            </a:r>
          </a:p>
          <a:p>
            <a:pPr>
              <a:spcAft>
                <a:spcPts val="1000"/>
              </a:spcAft>
              <a:defRPr sz="1800">
                <a:solidFill>
                  <a:srgbClr val="222B34"/>
                </a:solidFill>
              </a:defRPr>
            </a:pPr>
            <a:r>
              <a:t>Use AC_POWER as the prediction target while avoiding target-leakage columns such as DC_POWER and cumulative/yield variables.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XGBoost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192024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50474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XGBoost builds an ensemble of decision trees sequentially. Each new tree focuses on reducing the remaining prediction error, producing a strong nonlinear regression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92024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Configuration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9377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300 estimators • learning rate 0.05 • max depth 6 • subsample 0.90 • column sampling 0.90 • squared-error regression objective.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5847A"/>
                </a:solidFill>
              </a:defRPr>
            </a:pPr>
            <a:r>
              <a:t>37.8851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5847A"/>
                </a:solidFill>
              </a:defRPr>
            </a:pPr>
            <a:r>
              <a:t>122.1899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5847A"/>
                </a:solidFill>
              </a:defRPr>
            </a:pPr>
            <a:r>
              <a:t>0.8617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Training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5847A"/>
                </a:solidFill>
              </a:defRPr>
            </a:pPr>
            <a:r>
              <a:t>1.7523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LightGBM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94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1920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504748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50292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LightGBM is a gradient-boosting decision-tree framework designed for efficient training. It uses leaf-wise tree growth and histogram-based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192024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Configuration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937759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300 estimators • learning rate 0.05 • 31 leaves • subsample 0.90 • column sampling 0.90 • regression objective.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MAE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A853"/>
                </a:solidFill>
              </a:defRPr>
            </a:pPr>
            <a:r>
              <a:t>36.9710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A853"/>
                </a:solidFill>
              </a:defRPr>
            </a:pPr>
            <a:r>
              <a:t>121.1118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R²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A853"/>
                </a:solidFill>
              </a:defRPr>
            </a:pPr>
            <a:r>
              <a:t>0.8641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749039"/>
            <a:ext cx="2560320" cy="1097280"/>
          </a:xfrm>
          <a:prstGeom prst="roundRect">
            <a:avLst/>
          </a:prstGeom>
          <a:solidFill>
            <a:srgbClr val="F1F8F6"/>
          </a:solidFill>
          <a:ln>
            <a:solidFill>
              <a:srgbClr val="D2E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3877055"/>
            <a:ext cx="2340863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07A"/>
                </a:solidFill>
              </a:defRPr>
            </a:pPr>
            <a:r>
              <a:t>Training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4187952"/>
            <a:ext cx="241401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4A853"/>
                </a:solidFill>
              </a:defRPr>
            </a:pPr>
            <a:r>
              <a:t>1.2769 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Model Evaluation &amp;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143000"/>
          <a:ext cx="5486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83080"/>
                <a:gridCol w="17830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22D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LightGBM</a:t>
                      </a:r>
                    </a:p>
                  </a:txBody>
                  <a:tcPr>
                    <a:solidFill>
                      <a:srgbClr val="122D4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2B34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37.8851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36.9710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2B34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122.1899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121.1118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2B34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0.8617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0.8641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2B34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F1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1.7523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22B34"/>
                          </a:solidFill>
                        </a:defRPr>
                      </a:pPr>
                      <a:r>
                        <a:t>1.2769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0" y="1143000"/>
          <a:ext cx="48920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4526280"/>
            <a:ext cx="10789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526280"/>
            <a:ext cx="73152" cy="105156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690872"/>
            <a:ext cx="104424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148072"/>
            <a:ext cx="1042416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rPr sz="1700">
                <a:solidFill>
                  <a:srgbClr val="23282D"/>
                </a:solidFill>
                <a:latin typeface="Aptos"/>
              </a:rPr>
              <a:t>Reproduced test-set results:
• XGBoost — MAE: 37.8787 | RMSE: 121.6129 | R²: 0.8630
• LightGBM — MAE: 36.9710 | RMSE: 121.1118 | R²: 0.8641
LightGBM achieved slightly lower MAE and RMSE and slightly higher R² in this experiment.</a:t>
            </a:r>
            <a:endParaRPr sz="1700">
              <a:solidFill>
                <a:srgbClr val="23282D"/>
              </a:solidFill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Result Visualizations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5257800" cy="1828800"/>
          </a:xfrm>
          <a:prstGeom prst="roundRect">
            <a:avLst/>
          </a:prstGeom>
          <a:solidFill>
            <a:srgbClr val="F1F8F6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350008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44167" y="1960655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28215" y="1761649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12263" y="1850277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96311" y="2183213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80360" y="2597690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64408" y="2891081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48456" y="2919954"/>
            <a:ext cx="73152" cy="73152"/>
          </a:xfrm>
          <a:prstGeom prst="ellipse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399031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D48"/>
                </a:solidFill>
              </a:defRPr>
            </a:pPr>
            <a:r>
              <a:t>Power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920239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707A"/>
                </a:solidFill>
              </a:defRPr>
            </a:pPr>
            <a:r>
              <a:t>Shows temporal variation in AC power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051560"/>
            <a:ext cx="5257800" cy="1828800"/>
          </a:xfrm>
          <a:prstGeom prst="roundRect">
            <a:avLst/>
          </a:prstGeom>
          <a:solidFill>
            <a:srgbClr val="F1F8F6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0" y="1849871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67728" y="1761756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51776" y="1961224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35824" y="2350759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19872" y="2739927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03920" y="2938472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87968" y="2849330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72016" y="2516081"/>
            <a:ext cx="73152" cy="73152"/>
          </a:xfrm>
          <a:prstGeom prst="ellipse">
            <a:avLst/>
          </a:prstGeom>
          <a:solidFill>
            <a:srgbClr val="EB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1399031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D48"/>
                </a:solidFill>
              </a:defRPr>
            </a:pPr>
            <a:r>
              <a:t>Irradiation vs Power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39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707A"/>
                </a:solidFill>
              </a:defRPr>
            </a:pPr>
            <a:r>
              <a:t>Shows how solar irradiation relates to generated power.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91840"/>
            <a:ext cx="5257800" cy="1828800"/>
          </a:xfrm>
          <a:prstGeom prst="roundRect">
            <a:avLst/>
          </a:prstGeom>
          <a:solidFill>
            <a:srgbClr val="F1F8F6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19" y="4049837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44167" y="4343972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28215" y="4758525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12263" y="5090830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96311" y="5178431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80360" y="4978503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264408" y="4588784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48456" y="4199801"/>
            <a:ext cx="73152" cy="7315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36393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D48"/>
                </a:solidFill>
              </a:defRPr>
            </a:pPr>
            <a:r>
              <a:t>Temperature vs 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416052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707A"/>
                </a:solidFill>
              </a:defRPr>
            </a:pPr>
            <a:r>
              <a:t>Shows the relationship between temperature features and power.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3291840"/>
            <a:ext cx="5257800" cy="1828800"/>
          </a:xfrm>
          <a:prstGeom prst="roundRect">
            <a:avLst/>
          </a:prstGeom>
          <a:solidFill>
            <a:srgbClr val="F1F8F6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0" y="3794760"/>
            <a:ext cx="256032" cy="182880"/>
          </a:xfrm>
          <a:prstGeom prst="rect">
            <a:avLst/>
          </a:prstGeom>
          <a:solidFill>
            <a:srgbClr val="D7EB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85432" y="3794760"/>
            <a:ext cx="256032" cy="182880"/>
          </a:xfrm>
          <a:prstGeom prst="rect">
            <a:avLst/>
          </a:prstGeom>
          <a:solidFill>
            <a:srgbClr val="D7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87184" y="3794760"/>
            <a:ext cx="256032" cy="182880"/>
          </a:xfrm>
          <a:prstGeom prst="rect">
            <a:avLst/>
          </a:prstGeom>
          <a:solidFill>
            <a:srgbClr val="D7D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88936" y="3794760"/>
            <a:ext cx="256032" cy="182880"/>
          </a:xfrm>
          <a:prstGeom prst="rect">
            <a:avLst/>
          </a:prstGeom>
          <a:solidFill>
            <a:srgbClr val="D7C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90688" y="3794760"/>
            <a:ext cx="256032" cy="182880"/>
          </a:xfrm>
          <a:prstGeom prst="rect">
            <a:avLst/>
          </a:prstGeom>
          <a:solidFill>
            <a:srgbClr val="D7C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3794760"/>
            <a:ext cx="256032" cy="182880"/>
          </a:xfrm>
          <a:prstGeom prst="rect">
            <a:avLst/>
          </a:prstGeom>
          <a:solidFill>
            <a:srgbClr val="D7B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0" y="4023360"/>
            <a:ext cx="256032" cy="182880"/>
          </a:xfrm>
          <a:prstGeom prst="rect">
            <a:avLst/>
          </a:prstGeom>
          <a:solidFill>
            <a:srgbClr val="C3E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85432" y="4023360"/>
            <a:ext cx="256032" cy="182880"/>
          </a:xfrm>
          <a:prstGeom prst="rect">
            <a:avLst/>
          </a:prstGeom>
          <a:solidFill>
            <a:srgbClr val="C3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87184" y="4023360"/>
            <a:ext cx="256032" cy="182880"/>
          </a:xfrm>
          <a:prstGeom prst="rect">
            <a:avLst/>
          </a:prstGeom>
          <a:solidFill>
            <a:srgbClr val="C3D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88936" y="4023360"/>
            <a:ext cx="256032" cy="182880"/>
          </a:xfrm>
          <a:prstGeom prst="rect">
            <a:avLst/>
          </a:prstGeom>
          <a:solidFill>
            <a:srgbClr val="C3C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90688" y="4023360"/>
            <a:ext cx="256032" cy="182880"/>
          </a:xfrm>
          <a:prstGeom prst="rect">
            <a:avLst/>
          </a:prstGeom>
          <a:solidFill>
            <a:srgbClr val="C3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92440" y="4023360"/>
            <a:ext cx="256032" cy="182880"/>
          </a:xfrm>
          <a:prstGeom prst="rect">
            <a:avLst/>
          </a:prstGeom>
          <a:solidFill>
            <a:srgbClr val="C3B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3680" y="4251960"/>
            <a:ext cx="256032" cy="182880"/>
          </a:xfrm>
          <a:prstGeom prst="rect">
            <a:avLst/>
          </a:prstGeom>
          <a:solidFill>
            <a:srgbClr val="A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5432" y="4251960"/>
            <a:ext cx="256032" cy="182880"/>
          </a:xfrm>
          <a:prstGeom prst="rect">
            <a:avLst/>
          </a:prstGeom>
          <a:solidFill>
            <a:srgbClr val="AF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187184" y="4251960"/>
            <a:ext cx="256032" cy="182880"/>
          </a:xfrm>
          <a:prstGeom prst="rect">
            <a:avLst/>
          </a:prstGeom>
          <a:solidFill>
            <a:srgbClr val="AFD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88936" y="4251960"/>
            <a:ext cx="256032" cy="182880"/>
          </a:xfrm>
          <a:prstGeom prst="rect">
            <a:avLst/>
          </a:prstGeom>
          <a:solidFill>
            <a:srgbClr val="AFC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90688" y="4251960"/>
            <a:ext cx="256032" cy="182880"/>
          </a:xfrm>
          <a:prstGeom prst="rect">
            <a:avLst/>
          </a:prstGeom>
          <a:solidFill>
            <a:srgbClr val="AFC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92440" y="4251960"/>
            <a:ext cx="256032" cy="182880"/>
          </a:xfrm>
          <a:prstGeom prst="rect">
            <a:avLst/>
          </a:prstGeom>
          <a:solidFill>
            <a:srgbClr val="AFB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0" y="4480560"/>
            <a:ext cx="256032" cy="182880"/>
          </a:xfrm>
          <a:prstGeom prst="rect">
            <a:avLst/>
          </a:prstGeom>
          <a:solidFill>
            <a:srgbClr val="9B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5432" y="4480560"/>
            <a:ext cx="256032" cy="182880"/>
          </a:xfrm>
          <a:prstGeom prst="rect">
            <a:avLst/>
          </a:prstGeom>
          <a:solidFill>
            <a:srgbClr val="9BE1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87184" y="4480560"/>
            <a:ext cx="256032" cy="182880"/>
          </a:xfrm>
          <a:prstGeom prst="rect">
            <a:avLst/>
          </a:prstGeom>
          <a:solidFill>
            <a:srgbClr val="9BD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88936" y="4480560"/>
            <a:ext cx="256032" cy="182880"/>
          </a:xfrm>
          <a:prstGeom prst="rect">
            <a:avLst/>
          </a:prstGeom>
          <a:solidFill>
            <a:srgbClr val="9BC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90688" y="4480560"/>
            <a:ext cx="256032" cy="182880"/>
          </a:xfrm>
          <a:prstGeom prst="rect">
            <a:avLst/>
          </a:prstGeom>
          <a:solidFill>
            <a:srgbClr val="9BC3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92440" y="4480560"/>
            <a:ext cx="256032" cy="182880"/>
          </a:xfrm>
          <a:prstGeom prst="rect">
            <a:avLst/>
          </a:prstGeom>
          <a:solidFill>
            <a:srgbClr val="9BB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363931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D48"/>
                </a:solidFill>
              </a:defRPr>
            </a:pPr>
            <a:r>
              <a:t>Correlation Heatmap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4160520"/>
            <a:ext cx="1325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707A"/>
                </a:solidFill>
              </a:defRPr>
            </a:pPr>
            <a:r>
              <a:t>Summarizes linear correlations among selected variables.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989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143452"/>
                </a:solidFill>
                <a:latin typeface="Aptos"/>
              </a:defRPr>
            </a:pPr>
            <a:r>
              <a:t>Key visualizations: power over time, irradiation vs power, temperature vs power, correlation heatmap, actual vs predicted, feature importance, and metric comparisons.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Output Files &amp; 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73152" cy="196596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16151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Processed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67335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dataset/processed/solar_power_processed.csv</a:t>
            </a:r>
            <a:br/>
            <a:br/>
            <a:r>
              <a:t>Cleaned and feature-engineered dataset used by the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73152" cy="19659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216151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Trained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67335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models/xgboost_model.pkl</a:t>
            </a:r>
            <a:br/>
            <a:r>
              <a:t>models/lightgbm_model.pkl</a:t>
            </a:r>
            <a:br/>
            <a:r>
              <a:t>models/feature_columns.pkl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51560"/>
            <a:ext cx="3474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051560"/>
            <a:ext cx="73152" cy="196596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216151"/>
            <a:ext cx="31272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Evaluation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673352"/>
            <a:ext cx="310896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results/model_metrics.csv</a:t>
            </a:r>
            <a:br/>
            <a:r>
              <a:t>results/predictions.csv</a:t>
            </a:r>
            <a:br/>
            <a:r>
              <a:t>Comparison graphs and feature-importance plots.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B34"/>
                </a:solidFill>
              </a:defRPr>
            </a:pPr>
            <a:r>
              <a:t>Main execution file: main.py</a:t>
            </a:r>
          </a:p>
          <a:p>
            <a:pPr>
              <a:spcAft>
                <a:spcPts val="1000"/>
              </a:spcAft>
              <a:defRPr sz="1700">
                <a:solidFill>
                  <a:srgbClr val="222B34"/>
                </a:solidFill>
              </a:defRPr>
            </a:pPr>
            <a:r>
              <a:t>Interactive prediction interface: streamlit run app/app.py</a:t>
            </a:r>
          </a:p>
          <a:p>
            <a:pPr>
              <a:spcAft>
                <a:spcPts val="1000"/>
              </a:spcAft>
              <a:defRPr sz="1700">
                <a:solidFill>
                  <a:srgbClr val="222B34"/>
                </a:solidFill>
              </a:defRPr>
            </a:pPr>
            <a:r>
              <a:t>Project uses Python, pandas, NumPy, scikit-learn, XGBoost, LightGBM, matplotlib, joblib and Streamlit.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138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11. Conclusion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492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73152" cy="3474720"/>
          </a:xfrm>
          <a:prstGeom prst="rect">
            <a:avLst/>
          </a:prstGeom>
          <a:solidFill>
            <a:srgbClr val="15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500176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498347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The project demonstrates an end-to-end machine-learning workflow for solar power-output prediction. Both XGBoost and LightGBM produced R² values above 0.86 on the held-out test data. The pipeline also produces processed data, trained models, predictions and visual evaluation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1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73152" cy="3474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61872"/>
            <a:ext cx="49560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2D48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937759" cy="272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2B34"/>
                </a:solidFill>
              </a:defRPr>
            </a:pPr>
            <a:r>
              <a:t>• Add longer historical datasets and more locations.</a:t>
            </a:r>
            <a:br/>
            <a:r>
              <a:t>• Include additional weather variables when available.</a:t>
            </a:r>
            <a:br/>
            <a:r>
              <a:t>• Perform hyperparameter tuning and cross-validation suitable for time-series data.</a:t>
            </a:r>
            <a:br/>
            <a:r>
              <a:t>• Add forecasting horizons such as next-hour or next-day prediction.</a:t>
            </a:r>
            <a:br/>
            <a:r>
              <a:t>• Deploy the model as a web/API service for operational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074920"/>
            <a:ext cx="8595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22D48"/>
                </a:solidFill>
              </a:defRPr>
            </a:pPr>
            <a:r>
              <a:t>Thank You</a:t>
            </a:r>
          </a:p>
          <a:p>
            <a:pPr algn="ctr">
              <a:defRPr sz="1700">
                <a:solidFill>
                  <a:srgbClr val="15847A"/>
                </a:solidFill>
              </a:defRPr>
            </a:pPr>
            <a:r>
              <a:t>Questions &amp; Discussion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18288"/>
          </a:xfrm>
          <a:prstGeom prst="rect">
            <a:avLst/>
          </a:prstGeom>
          <a:solidFill>
            <a:srgbClr val="E1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01968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6707A"/>
                </a:solidFill>
              </a:defRPr>
            </a:pPr>
            <a:r>
              <a:t>Renewable Energy Output Prediction using XGBoost and LightGBM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74536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6707A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6296</Words>
  <Application>WPS Presentation</Application>
  <PresentationFormat>On-screen Show (4:3)</PresentationFormat>
  <Paragraphs>315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Munish Munish</cp:lastModifiedBy>
  <cp:revision>2</cp:revision>
  <dcterms:created xsi:type="dcterms:W3CDTF">2013-01-27T09:14:00Z</dcterms:created>
  <dcterms:modified xsi:type="dcterms:W3CDTF">2026-10-05T03:36:41Z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D9A69931A23D45BB94A7D5B2BD04CFB7_13</vt:lpwstr>
  </property>
  <property fmtid="{D5CDD505-2E9C-101B-9397-08002B2CF9AE}" pid="3" name="KSOProductBuildVer">
    <vt:lpwstr>1033-12.1.0.28485</vt:lpwstr>
  </property>
</Properties>
</file>